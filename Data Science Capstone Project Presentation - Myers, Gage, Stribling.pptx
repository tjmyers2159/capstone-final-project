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reH5du3byZP1N0BURKOEe92w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B9BAD1-E830-46F8-9EEA-B58113A8932A}">
  <a:tblStyle styleId="{B8B9BAD1-E830-46F8-9EEA-B58113A893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e64f1b99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ae64f1b99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64f1b99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ae64f1b99a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A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379400" y="4114975"/>
            <a:ext cx="15519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rgbClr val="D0D8E8"/>
                </a:solidFill>
              </a:rPr>
              <a:t>Do developers who primarily use Python earn significantly different salaries than those who primarily use JavaScript and or Java?</a:t>
            </a:r>
            <a:endParaRPr i="1" sz="6000"/>
          </a:p>
        </p:txBody>
      </p:sp>
      <p:sp>
        <p:nvSpPr>
          <p:cNvPr id="85" name="Google Shape;85;p1"/>
          <p:cNvSpPr/>
          <p:nvPr/>
        </p:nvSpPr>
        <p:spPr>
          <a:xfrm>
            <a:off x="-506025" y="1314600"/>
            <a:ext cx="19647000" cy="232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934425" y="1779914"/>
            <a:ext cx="14419125" cy="8419632"/>
            <a:chOff x="1690233" y="-3585622"/>
            <a:chExt cx="19225500" cy="11226176"/>
          </a:xfrm>
        </p:grpSpPr>
        <p:sp>
          <p:nvSpPr>
            <p:cNvPr id="87" name="Google Shape;87;p1"/>
            <p:cNvSpPr txBox="1"/>
            <p:nvPr/>
          </p:nvSpPr>
          <p:spPr>
            <a:xfrm>
              <a:off x="4048100" y="5018554"/>
              <a:ext cx="14509800" cy="26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D0D8E8"/>
                  </a:solidFill>
                </a:rPr>
                <a:t>By</a:t>
              </a:r>
              <a:r>
                <a:rPr b="0" i="0" lang="en-US" sz="2799" u="none" cap="none" strike="noStrike">
                  <a:solidFill>
                    <a:srgbClr val="D0D8E8"/>
                  </a:solidFill>
                  <a:latin typeface="Arial"/>
                  <a:ea typeface="Arial"/>
                  <a:cs typeface="Arial"/>
                  <a:sym typeface="Arial"/>
                </a:rPr>
                <a:t>: Timothy Myers, Harden Gage, and Anthony Stribling</a:t>
              </a:r>
              <a:br>
                <a:rPr b="0" i="0" lang="en-US" sz="2799" u="none" cap="none" strike="noStrike">
                  <a:solidFill>
                    <a:srgbClr val="D0D8E8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b="0" i="0" lang="en-US" sz="2799" u="none" cap="none" strike="noStrike">
                  <a:solidFill>
                    <a:srgbClr val="D0D8E8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lang="en-US" sz="2799">
                  <a:solidFill>
                    <a:srgbClr val="D0D8E8"/>
                  </a:solidFill>
                </a:rPr>
              </a:br>
              <a:r>
                <a:rPr b="0" i="1" lang="en-US" sz="2699" u="none" cap="none" strike="noStrike">
                  <a:solidFill>
                    <a:srgbClr val="D0D8E8"/>
                  </a:solidFill>
                  <a:latin typeface="Arial"/>
                  <a:ea typeface="Arial"/>
                  <a:cs typeface="Arial"/>
                  <a:sym typeface="Arial"/>
                </a:rPr>
                <a:t>Capstone</a:t>
              </a:r>
              <a:r>
                <a:rPr i="1" lang="en-US" sz="2699">
                  <a:solidFill>
                    <a:srgbClr val="D0D8E8"/>
                  </a:solidFill>
                </a:rPr>
                <a:t> Project - </a:t>
              </a:r>
              <a:r>
                <a:rPr b="0" i="1" lang="en-US" sz="2699" u="none" cap="none" strike="noStrike">
                  <a:solidFill>
                    <a:srgbClr val="D0D8E8"/>
                  </a:solidFill>
                  <a:latin typeface="Arial"/>
                  <a:ea typeface="Arial"/>
                  <a:cs typeface="Arial"/>
                  <a:sym typeface="Arial"/>
                </a:rPr>
                <a:t>SDT 100 01</a:t>
              </a:r>
              <a:endParaRPr i="1" sz="1300"/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1690233" y="-3585622"/>
              <a:ext cx="19225500" cy="16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0" u="sng">
                  <a:solidFill>
                    <a:schemeClr val="dk2"/>
                  </a:solidFill>
                  <a:latin typeface="Play"/>
                  <a:ea typeface="Play"/>
                  <a:cs typeface="Play"/>
                  <a:sym typeface="Play"/>
                </a:rPr>
                <a:t>Python vs. JavaScript/Java</a:t>
              </a:r>
              <a:endParaRPr sz="8000" u="sng">
                <a:solidFill>
                  <a:schemeClr val="dk2"/>
                </a:solidFill>
              </a:endParaRPr>
            </a:p>
          </p:txBody>
        </p:sp>
      </p:grpSp>
      <p:cxnSp>
        <p:nvCxnSpPr>
          <p:cNvPr id="89" name="Google Shape;89;p1"/>
          <p:cNvCxnSpPr/>
          <p:nvPr/>
        </p:nvCxnSpPr>
        <p:spPr>
          <a:xfrm>
            <a:off x="0" y="676275"/>
            <a:ext cx="182778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0" name="Google Shape;9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900" y="1567025"/>
            <a:ext cx="1816850" cy="18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65280" y="1597787"/>
            <a:ext cx="1755325" cy="175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65768" y="1597789"/>
            <a:ext cx="1528417" cy="1528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A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666750" y="1743920"/>
            <a:ext cx="5448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D0D8E8"/>
                </a:solidFill>
                <a:latin typeface="Play"/>
                <a:ea typeface="Play"/>
                <a:cs typeface="Play"/>
                <a:sym typeface="Play"/>
              </a:rPr>
              <a:t>Why This Matters?</a:t>
            </a:r>
            <a:endParaRPr/>
          </a:p>
        </p:txBody>
      </p:sp>
      <p:cxnSp>
        <p:nvCxnSpPr>
          <p:cNvPr id="99" name="Google Shape;99;p2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6513730" y="1743931"/>
            <a:ext cx="11474700" cy="81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US" sz="3299">
                <a:solidFill>
                  <a:schemeClr val="lt2"/>
                </a:solidFill>
              </a:rPr>
              <a:t>Tech firms need competitive and fair pay to attract and keep developers.</a:t>
            </a:r>
            <a:endParaRPr sz="3299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US" sz="3299">
                <a:solidFill>
                  <a:schemeClr val="lt2"/>
                </a:solidFill>
              </a:rPr>
              <a:t>Python, JavaScript, and Java are three of the most widely used programming languages.</a:t>
            </a:r>
            <a:endParaRPr sz="3299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US" sz="3299">
                <a:solidFill>
                  <a:schemeClr val="lt2"/>
                </a:solidFill>
              </a:rPr>
              <a:t>They are used in different roles:</a:t>
            </a:r>
            <a:endParaRPr sz="3299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</a:pPr>
            <a:r>
              <a:rPr lang="en-US" sz="3299">
                <a:solidFill>
                  <a:schemeClr val="lt2"/>
                </a:solidFill>
              </a:rPr>
              <a:t>Python: data science, automation, backend.</a:t>
            </a:r>
            <a:endParaRPr sz="3299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</a:pPr>
            <a:r>
              <a:rPr lang="en-US" sz="3299">
                <a:solidFill>
                  <a:schemeClr val="lt2"/>
                </a:solidFill>
              </a:rPr>
              <a:t>JavaScript: front end and web.</a:t>
            </a:r>
            <a:endParaRPr sz="3299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</a:pPr>
            <a:r>
              <a:rPr lang="en-US" sz="3299">
                <a:solidFill>
                  <a:schemeClr val="lt2"/>
                </a:solidFill>
              </a:rPr>
              <a:t>Java: enterprise systems, Android, large backend systems.</a:t>
            </a:r>
            <a:endParaRPr sz="3299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US" sz="3299">
                <a:solidFill>
                  <a:schemeClr val="lt2"/>
                </a:solidFill>
              </a:rPr>
              <a:t>If salaries differ by language and experience, it affects:</a:t>
            </a:r>
            <a:endParaRPr sz="3299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</a:pPr>
            <a:r>
              <a:rPr lang="en-US" sz="3299">
                <a:solidFill>
                  <a:schemeClr val="lt2"/>
                </a:solidFill>
              </a:rPr>
              <a:t>Hiring budgets</a:t>
            </a:r>
            <a:endParaRPr sz="3299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</a:pPr>
            <a:r>
              <a:rPr lang="en-US" sz="3299">
                <a:solidFill>
                  <a:schemeClr val="lt2"/>
                </a:solidFill>
              </a:rPr>
              <a:t>Training and upskilling decisions</a:t>
            </a:r>
            <a:endParaRPr sz="3299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</a:pPr>
            <a:r>
              <a:rPr lang="en-US" sz="3299">
                <a:solidFill>
                  <a:schemeClr val="lt2"/>
                </a:solidFill>
              </a:rPr>
              <a:t>Long term talent strategy</a:t>
            </a:r>
            <a:endParaRPr sz="3299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799">
              <a:solidFill>
                <a:srgbClr val="D0D8E8"/>
              </a:solidFill>
            </a:endParaRPr>
          </a:p>
        </p:txBody>
      </p:sp>
      <p:pic>
        <p:nvPicPr>
          <p:cNvPr descr="a man with a yellow face is shrugging his shoulders in a blue shirt (Provided by Tenor)" id="102" name="Google Shape;102;p2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019175" y="4699233"/>
            <a:ext cx="474345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3707849" y="8224672"/>
            <a:ext cx="10882200" cy="19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799">
                <a:solidFill>
                  <a:srgbClr val="D0D8E8"/>
                </a:solidFill>
              </a:rPr>
            </a:b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i="1" lang="en-US" sz="2699">
                <a:solidFill>
                  <a:srgbClr val="D0D8E8"/>
                </a:solidFill>
              </a:rPr>
              <a:t> Project - </a:t>
            </a: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SDT 100 01</a:t>
            </a:r>
            <a:endParaRPr i="1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D8E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666750" y="1743920"/>
            <a:ext cx="5448300" cy="2501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3A6EA5"/>
                </a:solidFill>
                <a:latin typeface="Play"/>
                <a:ea typeface="Play"/>
                <a:cs typeface="Play"/>
                <a:sym typeface="Play"/>
              </a:rPr>
              <a:t>Data Overview</a:t>
            </a:r>
            <a:endParaRPr/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3A6E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3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3A6E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3"/>
          <p:cNvSpPr txBox="1"/>
          <p:nvPr/>
        </p:nvSpPr>
        <p:spPr>
          <a:xfrm>
            <a:off x="149550" y="7890705"/>
            <a:ext cx="8844900" cy="1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99">
                <a:solidFill>
                  <a:schemeClr val="accent1"/>
                </a:solidFill>
              </a:rPr>
              <a:t>Source: </a:t>
            </a:r>
            <a:r>
              <a:rPr i="1" lang="en-US" sz="2699">
                <a:solidFill>
                  <a:schemeClr val="accent1"/>
                </a:solidFill>
              </a:rPr>
              <a:t>Stack Overflow Annual Developer Survey 2025.</a:t>
            </a:r>
            <a:endParaRPr i="1" sz="2699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99">
                <a:solidFill>
                  <a:schemeClr val="accent1"/>
                </a:solidFill>
              </a:rPr>
              <a:t>Raw data:</a:t>
            </a:r>
            <a:r>
              <a:rPr lang="en-US" sz="2699">
                <a:solidFill>
                  <a:schemeClr val="accent1"/>
                </a:solidFill>
              </a:rPr>
              <a:t> about 49,000 developer responses and 170 variables.</a:t>
            </a:r>
            <a:endParaRPr sz="2699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699">
              <a:solidFill>
                <a:schemeClr val="accent1"/>
              </a:solidFill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9173025" y="987263"/>
            <a:ext cx="79326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99">
                <a:solidFill>
                  <a:schemeClr val="accent1"/>
                </a:solidFill>
              </a:rPr>
              <a:t>Cleaned sample for this project:</a:t>
            </a:r>
            <a:endParaRPr b="1"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United States only</a:t>
            </a:r>
            <a:endParaRPr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Employed respondents only</a:t>
            </a:r>
            <a:endParaRPr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Salary between $30,000 and $500,000</a:t>
            </a:r>
            <a:endParaRPr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1–30 years of coding experience</a:t>
            </a:r>
            <a:endParaRPr sz="2699">
              <a:solidFill>
                <a:schemeClr val="accent1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9173025" y="3634275"/>
            <a:ext cx="8844900" cy="56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99">
                <a:solidFill>
                  <a:schemeClr val="accent1"/>
                </a:solidFill>
              </a:rPr>
              <a:t>Final analysis groups:</a:t>
            </a:r>
            <a:endParaRPr b="1"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Python-focused developers (no JavaScript or Java in the same row)</a:t>
            </a:r>
            <a:endParaRPr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JavaScript/Java developers (combined comparison group)</a:t>
            </a:r>
            <a:endParaRPr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Cleaned counts:</a:t>
            </a:r>
            <a:endParaRPr sz="2699">
              <a:solidFill>
                <a:schemeClr val="accent1"/>
              </a:solidFill>
            </a:endParaRPr>
          </a:p>
          <a:p>
            <a:pPr indent="-3999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○"/>
            </a:pPr>
            <a:r>
              <a:rPr lang="en-US" sz="2699">
                <a:solidFill>
                  <a:schemeClr val="accent1"/>
                </a:solidFill>
              </a:rPr>
              <a:t>Python: 558 developers</a:t>
            </a:r>
            <a:endParaRPr sz="2699">
              <a:solidFill>
                <a:schemeClr val="accent1"/>
              </a:solidFill>
            </a:endParaRPr>
          </a:p>
          <a:p>
            <a:pPr indent="-3999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○"/>
            </a:pPr>
            <a:r>
              <a:rPr lang="en-US" sz="2699">
                <a:solidFill>
                  <a:schemeClr val="accent1"/>
                </a:solidFill>
              </a:rPr>
              <a:t>JavaScript/Java: 998 developers</a:t>
            </a:r>
            <a:endParaRPr sz="2699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99">
                <a:solidFill>
                  <a:schemeClr val="accent1"/>
                </a:solidFill>
              </a:rPr>
              <a:t>Key variables:</a:t>
            </a:r>
            <a:endParaRPr b="1"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Annual salary (ConvertedCompYearly)</a:t>
            </a:r>
            <a:endParaRPr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Years of coding (YearsCode or YearsCodePro)</a:t>
            </a:r>
            <a:endParaRPr sz="2699">
              <a:solidFill>
                <a:schemeClr val="accent1"/>
              </a:solidFill>
            </a:endParaRPr>
          </a:p>
          <a:p>
            <a:pPr indent="-3999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99"/>
              <a:buChar char="●"/>
            </a:pPr>
            <a:r>
              <a:rPr lang="en-US" sz="2699">
                <a:solidFill>
                  <a:schemeClr val="accent1"/>
                </a:solidFill>
              </a:rPr>
              <a:t>Languages used (LanguageHaveWorkedWith)</a:t>
            </a:r>
            <a:endParaRPr sz="2699">
              <a:solidFill>
                <a:schemeClr val="accent1"/>
              </a:solidFill>
            </a:endParaRPr>
          </a:p>
        </p:txBody>
      </p:sp>
      <p:pic>
        <p:nvPicPr>
          <p:cNvPr id="114" name="Google Shape;114;p3" title="Screenshot 2025-12-07 at 9.39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212" y="4946300"/>
            <a:ext cx="8695579" cy="2466525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3"/>
          <p:cNvSpPr txBox="1"/>
          <p:nvPr/>
        </p:nvSpPr>
        <p:spPr>
          <a:xfrm>
            <a:off x="3707849" y="8224672"/>
            <a:ext cx="10882200" cy="19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7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7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799">
                <a:solidFill>
                  <a:schemeClr val="dk2"/>
                </a:solidFill>
              </a:rPr>
            </a:br>
            <a:r>
              <a:rPr b="0" i="1" lang="en-US" sz="26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i="1" lang="en-US" sz="2699">
                <a:solidFill>
                  <a:schemeClr val="dk2"/>
                </a:solidFill>
              </a:rPr>
              <a:t> Project - </a:t>
            </a:r>
            <a:r>
              <a:rPr b="0" i="1" lang="en-US" sz="26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SDT 100 01</a:t>
            </a:r>
            <a:endParaRPr i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A5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-476250" y="1269832"/>
            <a:ext cx="19647000" cy="145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01500" y="1337325"/>
            <a:ext cx="17085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Salary by</a:t>
            </a:r>
            <a:r>
              <a:rPr lang="en-US" sz="8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Language and Experience</a:t>
            </a:r>
            <a:endParaRPr sz="400">
              <a:solidFill>
                <a:schemeClr val="accent1"/>
              </a:solidFill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4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4" name="Google Shape;124;p4" title="Java Boxplot.png"/>
          <p:cNvPicPr preferRelativeResize="0"/>
          <p:nvPr/>
        </p:nvPicPr>
        <p:blipFill rotWithShape="1">
          <a:blip r:embed="rId3">
            <a:alphaModFix/>
          </a:blip>
          <a:srcRect b="0" l="0" r="219" t="0"/>
          <a:stretch/>
        </p:blipFill>
        <p:spPr>
          <a:xfrm>
            <a:off x="601500" y="2930750"/>
            <a:ext cx="8503450" cy="5233386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4" title="Python Boxplot.png"/>
          <p:cNvPicPr preferRelativeResize="0"/>
          <p:nvPr/>
        </p:nvPicPr>
        <p:blipFill rotWithShape="1">
          <a:blip r:embed="rId4">
            <a:alphaModFix/>
          </a:blip>
          <a:srcRect b="900" l="0" r="0" t="1271"/>
          <a:stretch/>
        </p:blipFill>
        <p:spPr>
          <a:xfrm>
            <a:off x="9183050" y="2930750"/>
            <a:ext cx="8503450" cy="5233374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p4"/>
          <p:cNvSpPr txBox="1"/>
          <p:nvPr/>
        </p:nvSpPr>
        <p:spPr>
          <a:xfrm>
            <a:off x="601475" y="8366450"/>
            <a:ext cx="85035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2"/>
                </a:solidFill>
              </a:rPr>
              <a:t>Overall Mean Salary</a:t>
            </a:r>
            <a:r>
              <a:rPr b="1" lang="en-US" sz="3000">
                <a:solidFill>
                  <a:schemeClr val="lt2"/>
                </a:solidFill>
              </a:rPr>
              <a:t>: </a:t>
            </a:r>
            <a:r>
              <a:rPr lang="en-US" sz="3000">
                <a:solidFill>
                  <a:schemeClr val="lt2"/>
                </a:solidFill>
              </a:rPr>
              <a:t>$</a:t>
            </a:r>
            <a:r>
              <a:rPr lang="en-US" sz="3000">
                <a:solidFill>
                  <a:schemeClr val="lt2"/>
                </a:solidFill>
              </a:rPr>
              <a:t>150,340.13</a:t>
            </a:r>
            <a:br>
              <a:rPr b="1" lang="en-US" sz="3000">
                <a:solidFill>
                  <a:schemeClr val="lt2"/>
                </a:solidFill>
              </a:rPr>
            </a:br>
            <a:r>
              <a:rPr b="1" lang="en-US" sz="3000">
                <a:solidFill>
                  <a:schemeClr val="lt2"/>
                </a:solidFill>
              </a:rPr>
              <a:t>Overall Median Salary: </a:t>
            </a:r>
            <a:r>
              <a:rPr lang="en-US" sz="3000">
                <a:solidFill>
                  <a:schemeClr val="lt2"/>
                </a:solidFill>
              </a:rPr>
              <a:t>$140,000</a:t>
            </a:r>
            <a:endParaRPr sz="3000">
              <a:solidFill>
                <a:schemeClr val="lt2"/>
              </a:solidFill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9104975" y="8366438"/>
            <a:ext cx="85035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2"/>
                </a:solidFill>
              </a:rPr>
              <a:t>Overall Mean Salary: </a:t>
            </a:r>
            <a:r>
              <a:rPr lang="en-US" sz="3000">
                <a:solidFill>
                  <a:schemeClr val="lt2"/>
                </a:solidFill>
              </a:rPr>
              <a:t>$</a:t>
            </a:r>
            <a:r>
              <a:rPr lang="en-US" sz="3000">
                <a:solidFill>
                  <a:schemeClr val="lt2"/>
                </a:solidFill>
              </a:rPr>
              <a:t>162,279.16</a:t>
            </a:r>
            <a:br>
              <a:rPr b="1" lang="en-US" sz="3000">
                <a:solidFill>
                  <a:schemeClr val="lt2"/>
                </a:solidFill>
              </a:rPr>
            </a:br>
            <a:r>
              <a:rPr b="1" lang="en-US" sz="3000">
                <a:solidFill>
                  <a:schemeClr val="lt2"/>
                </a:solidFill>
              </a:rPr>
              <a:t>Overall Median Salary: </a:t>
            </a:r>
            <a:r>
              <a:rPr lang="en-US" sz="3000">
                <a:solidFill>
                  <a:schemeClr val="lt2"/>
                </a:solidFill>
              </a:rPr>
              <a:t>$</a:t>
            </a:r>
            <a:r>
              <a:rPr lang="en-US" sz="3000">
                <a:solidFill>
                  <a:schemeClr val="lt2"/>
                </a:solidFill>
              </a:rPr>
              <a:t>150,000</a:t>
            </a:r>
            <a:endParaRPr sz="3000">
              <a:solidFill>
                <a:schemeClr val="lt2"/>
              </a:solidFill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707849" y="8224672"/>
            <a:ext cx="10882200" cy="19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799">
                <a:solidFill>
                  <a:srgbClr val="D0D8E8"/>
                </a:solidFill>
              </a:rPr>
            </a:b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i="1" lang="en-US" sz="2699">
                <a:solidFill>
                  <a:srgbClr val="D0D8E8"/>
                </a:solidFill>
              </a:rPr>
              <a:t> Project - </a:t>
            </a: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SDT 100 01</a:t>
            </a:r>
            <a:endParaRPr i="1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A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/>
        </p:nvSpPr>
        <p:spPr>
          <a:xfrm>
            <a:off x="6340163" y="5226688"/>
            <a:ext cx="116853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99"/>
              <a:buChar char="●"/>
            </a:pPr>
            <a:r>
              <a:rPr lang="en-US" sz="2399">
                <a:solidFill>
                  <a:schemeClr val="lt2"/>
                </a:solidFill>
              </a:rPr>
              <a:t>Used </a:t>
            </a:r>
            <a:r>
              <a:rPr b="1" lang="en-US" sz="2399">
                <a:solidFill>
                  <a:schemeClr val="lt2"/>
                </a:solidFill>
              </a:rPr>
              <a:t>Welch’s t-test</a:t>
            </a:r>
            <a:r>
              <a:rPr lang="en-US" sz="2399">
                <a:solidFill>
                  <a:schemeClr val="lt2"/>
                </a:solidFill>
              </a:rPr>
              <a:t> (two sample, unequal variances) in Excel.</a:t>
            </a:r>
            <a:endParaRPr sz="2399">
              <a:solidFill>
                <a:schemeClr val="lt2"/>
              </a:solidFill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99"/>
              <a:buChar char="●"/>
            </a:pPr>
            <a:r>
              <a:rPr lang="en-US" sz="2399">
                <a:solidFill>
                  <a:schemeClr val="lt2"/>
                </a:solidFill>
              </a:rPr>
              <a:t>Compared Python salary vs JavaScript/Java salary within each experience group.</a:t>
            </a:r>
            <a:endParaRPr sz="2399">
              <a:solidFill>
                <a:schemeClr val="lt2"/>
              </a:solidFill>
            </a:endParaRPr>
          </a:p>
          <a:p>
            <a:pPr indent="-3809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99"/>
              <a:buChar char="○"/>
            </a:pPr>
            <a:r>
              <a:rPr lang="en-US" sz="2399">
                <a:solidFill>
                  <a:schemeClr val="lt2"/>
                </a:solidFill>
              </a:rPr>
              <a:t>At 1–5 and 6–10 years, p-values are greater than 0.05 → no significant difference.</a:t>
            </a:r>
            <a:endParaRPr sz="2399">
              <a:solidFill>
                <a:schemeClr val="lt2"/>
              </a:solidFill>
            </a:endParaRPr>
          </a:p>
          <a:p>
            <a:pPr indent="-3809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99"/>
              <a:buChar char="○"/>
            </a:pPr>
            <a:r>
              <a:rPr lang="en-US" sz="2399">
                <a:solidFill>
                  <a:schemeClr val="lt2"/>
                </a:solidFill>
              </a:rPr>
              <a:t>At 11–20 years, Python developers earn about 9 percent more, p ≈ 0.0135 → </a:t>
            </a:r>
            <a:r>
              <a:rPr lang="en-US" sz="2399" u="sng">
                <a:solidFill>
                  <a:schemeClr val="lt2"/>
                </a:solidFill>
              </a:rPr>
              <a:t>significant.</a:t>
            </a:r>
            <a:endParaRPr sz="2399" u="sng">
              <a:solidFill>
                <a:schemeClr val="lt2"/>
              </a:solidFill>
            </a:endParaRPr>
          </a:p>
          <a:p>
            <a:pPr indent="-3809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99"/>
              <a:buChar char="○"/>
            </a:pPr>
            <a:r>
              <a:rPr lang="en-US" sz="2399">
                <a:solidFill>
                  <a:schemeClr val="lt2"/>
                </a:solidFill>
              </a:rPr>
              <a:t>At 21–30 years, Python developers earn about 17 percent more, p ≈ 0.000051 → </a:t>
            </a:r>
            <a:r>
              <a:rPr lang="en-US" sz="2399" u="sng">
                <a:solidFill>
                  <a:schemeClr val="lt2"/>
                </a:solidFill>
              </a:rPr>
              <a:t>very strong evidence.</a:t>
            </a:r>
            <a:endParaRPr sz="2399" u="sng">
              <a:solidFill>
                <a:schemeClr val="lt2"/>
              </a:solidFill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99"/>
              <a:buChar char="●"/>
            </a:pPr>
            <a:r>
              <a:rPr lang="en-US" sz="2399">
                <a:solidFill>
                  <a:schemeClr val="lt2"/>
                </a:solidFill>
              </a:rPr>
              <a:t>Overall, Python developers earn about $11,700 </a:t>
            </a:r>
            <a:r>
              <a:rPr lang="en-US" sz="2399" u="sng">
                <a:solidFill>
                  <a:schemeClr val="lt2"/>
                </a:solidFill>
              </a:rPr>
              <a:t>more</a:t>
            </a:r>
            <a:r>
              <a:rPr lang="en-US" sz="2399">
                <a:solidFill>
                  <a:schemeClr val="lt2"/>
                </a:solidFill>
              </a:rPr>
              <a:t> on average, and the overall p-value is significant.</a:t>
            </a:r>
            <a:endParaRPr sz="1999">
              <a:solidFill>
                <a:schemeClr val="lt2"/>
              </a:solidFill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666750" y="1743925"/>
            <a:ext cx="5628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D0D8E8"/>
                </a:solidFill>
                <a:latin typeface="Play"/>
                <a:ea typeface="Play"/>
                <a:cs typeface="Play"/>
                <a:sym typeface="Play"/>
              </a:rPr>
              <a:t>Statistical Results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5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7" name="Google Shape;137;p5"/>
          <p:cNvGraphicFramePr/>
          <p:nvPr/>
        </p:nvGraphicFramePr>
        <p:xfrm>
          <a:off x="6688150" y="14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{B8B9BAD1-E830-46F8-9EEA-B58113A8932A}</a:tableStyleId>
              </a:tblPr>
              <a:tblGrid>
                <a:gridCol w="4480525"/>
                <a:gridCol w="3254400"/>
                <a:gridCol w="3254400"/>
              </a:tblGrid>
              <a:tr h="721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Experience Group</a:t>
                      </a:r>
                      <a:endParaRPr b="1"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P-Value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1-5 Years</a:t>
                      </a:r>
                      <a:endParaRPr b="1"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0.2003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6-10 Years</a:t>
                      </a:r>
                      <a:endParaRPr b="1"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0.5987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11-20 Years</a:t>
                      </a:r>
                      <a:endParaRPr b="1"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0.0135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21-30 Years</a:t>
                      </a:r>
                      <a:endParaRPr b="1"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0.000051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5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nalytics, analysis, statistics, searching blue icon (Provided by Getty Images)" id="138" name="Google Shape;1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438" y="4947987"/>
            <a:ext cx="4423521" cy="4423501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5"/>
          <p:cNvSpPr txBox="1"/>
          <p:nvPr/>
        </p:nvSpPr>
        <p:spPr>
          <a:xfrm>
            <a:off x="3707849" y="8224672"/>
            <a:ext cx="10882200" cy="19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799">
                <a:solidFill>
                  <a:srgbClr val="D0D8E8"/>
                </a:solidFill>
              </a:rPr>
            </a:b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i="1" lang="en-US" sz="2699">
                <a:solidFill>
                  <a:srgbClr val="D0D8E8"/>
                </a:solidFill>
              </a:rPr>
              <a:t> Project - </a:t>
            </a: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SDT 100 01</a:t>
            </a:r>
            <a:endParaRPr i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D8E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473275" y="979650"/>
            <a:ext cx="9204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3A6EA5"/>
                </a:solidFill>
                <a:latin typeface="Play"/>
                <a:ea typeface="Play"/>
                <a:cs typeface="Play"/>
                <a:sym typeface="Play"/>
              </a:rPr>
              <a:t>Business </a:t>
            </a:r>
            <a:endParaRPr sz="8000">
              <a:solidFill>
                <a:srgbClr val="3A6EA5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3A6EA5"/>
                </a:solidFill>
                <a:latin typeface="Play"/>
                <a:ea typeface="Play"/>
                <a:cs typeface="Play"/>
                <a:sym typeface="Play"/>
              </a:rPr>
              <a:t>Recommendations:</a:t>
            </a:r>
            <a:br>
              <a:rPr lang="en-US" sz="9600">
                <a:solidFill>
                  <a:srgbClr val="3A6EA5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4000">
                <a:solidFill>
                  <a:srgbClr val="3A6EA5"/>
                </a:solidFill>
                <a:latin typeface="Play"/>
                <a:ea typeface="Play"/>
                <a:cs typeface="Play"/>
                <a:sym typeface="Play"/>
              </a:rPr>
              <a:t>What Should Companies Do with This?</a:t>
            </a:r>
            <a:endParaRPr sz="4000"/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3A6E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6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3A6E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 txBox="1"/>
          <p:nvPr/>
        </p:nvSpPr>
        <p:spPr>
          <a:xfrm>
            <a:off x="9677575" y="1918638"/>
            <a:ext cx="7932600" cy="7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499">
                <a:solidFill>
                  <a:schemeClr val="accent1"/>
                </a:solidFill>
              </a:rPr>
              <a:t>For Companies:</a:t>
            </a:r>
            <a:endParaRPr b="1" sz="3499">
              <a:solidFill>
                <a:schemeClr val="accent1"/>
              </a:solidFill>
            </a:endParaRPr>
          </a:p>
          <a:p>
            <a:pPr indent="-4507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99"/>
              <a:buChar char="●"/>
            </a:pPr>
            <a:r>
              <a:rPr lang="en-US" sz="3499">
                <a:solidFill>
                  <a:schemeClr val="accent1"/>
                </a:solidFill>
              </a:rPr>
              <a:t>At 1–10 years, pay ranges for Python, JavaScript, and Java can be similar.</a:t>
            </a:r>
            <a:endParaRPr sz="3499">
              <a:solidFill>
                <a:schemeClr val="accent1"/>
              </a:solidFill>
            </a:endParaRPr>
          </a:p>
          <a:p>
            <a:pPr indent="-4507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99"/>
              <a:buChar char="●"/>
            </a:pPr>
            <a:r>
              <a:rPr lang="en-US" sz="3499">
                <a:solidFill>
                  <a:schemeClr val="accent1"/>
                </a:solidFill>
              </a:rPr>
              <a:t>For 11–30 years, plan higher salary bands for experienced Python roles, especially in:</a:t>
            </a:r>
            <a:endParaRPr sz="3499">
              <a:solidFill>
                <a:schemeClr val="accent1"/>
              </a:solidFill>
            </a:endParaRPr>
          </a:p>
          <a:p>
            <a:pPr indent="-4507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99"/>
              <a:buChar char="○"/>
            </a:pPr>
            <a:r>
              <a:rPr lang="en-US" sz="3499">
                <a:solidFill>
                  <a:schemeClr val="accent1"/>
                </a:solidFill>
              </a:rPr>
              <a:t>Data analytics</a:t>
            </a:r>
            <a:endParaRPr sz="3499">
              <a:solidFill>
                <a:schemeClr val="accent1"/>
              </a:solidFill>
            </a:endParaRPr>
          </a:p>
          <a:p>
            <a:pPr indent="-4507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99"/>
              <a:buChar char="○"/>
            </a:pPr>
            <a:r>
              <a:rPr lang="en-US" sz="3499">
                <a:solidFill>
                  <a:schemeClr val="accent1"/>
                </a:solidFill>
              </a:rPr>
              <a:t>Machine learning</a:t>
            </a:r>
            <a:endParaRPr sz="3499">
              <a:solidFill>
                <a:schemeClr val="accent1"/>
              </a:solidFill>
            </a:endParaRPr>
          </a:p>
          <a:p>
            <a:pPr indent="-4507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99"/>
              <a:buChar char="○"/>
            </a:pPr>
            <a:r>
              <a:rPr lang="en-US" sz="3499">
                <a:solidFill>
                  <a:schemeClr val="accent1"/>
                </a:solidFill>
              </a:rPr>
              <a:t>Automation and backend systems</a:t>
            </a:r>
            <a:endParaRPr sz="3499">
              <a:solidFill>
                <a:schemeClr val="accent1"/>
              </a:solidFill>
            </a:endParaRPr>
          </a:p>
          <a:p>
            <a:pPr indent="-4507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99"/>
              <a:buChar char="●"/>
            </a:pPr>
            <a:r>
              <a:rPr lang="en-US" sz="3499">
                <a:solidFill>
                  <a:schemeClr val="accent1"/>
                </a:solidFill>
              </a:rPr>
              <a:t>Invest in </a:t>
            </a:r>
            <a:r>
              <a:rPr b="1" lang="en-US" sz="3499">
                <a:solidFill>
                  <a:schemeClr val="accent1"/>
                </a:solidFill>
              </a:rPr>
              <a:t>Python training</a:t>
            </a:r>
            <a:r>
              <a:rPr lang="en-US" sz="3499">
                <a:solidFill>
                  <a:schemeClr val="accent1"/>
                </a:solidFill>
              </a:rPr>
              <a:t> for developers in data and backend teams.</a:t>
            </a:r>
            <a:endParaRPr sz="3499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99">
              <a:solidFill>
                <a:schemeClr val="accent1"/>
              </a:solidFill>
            </a:endParaRPr>
          </a:p>
        </p:txBody>
      </p:sp>
      <p:pic>
        <p:nvPicPr>
          <p:cNvPr descr="Profit statistics  icon, Earning growth chart (Provided by Getty Images)" id="148" name="Google Shape;14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85" y="4713700"/>
            <a:ext cx="4251090" cy="425109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Business thinking, creative idea icon (Provided by Getty Images)" id="149" name="Google Shape;14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921" y="4713700"/>
            <a:ext cx="4251090" cy="425109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6"/>
          <p:cNvSpPr txBox="1"/>
          <p:nvPr/>
        </p:nvSpPr>
        <p:spPr>
          <a:xfrm>
            <a:off x="3707849" y="8224672"/>
            <a:ext cx="10882200" cy="19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7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7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799">
                <a:solidFill>
                  <a:schemeClr val="dk2"/>
                </a:solidFill>
              </a:rPr>
            </a:br>
            <a:r>
              <a:rPr b="0" i="1" lang="en-US" sz="26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i="1" lang="en-US" sz="2699">
                <a:solidFill>
                  <a:schemeClr val="dk2"/>
                </a:solidFill>
              </a:rPr>
              <a:t> Project - </a:t>
            </a:r>
            <a:r>
              <a:rPr b="0" i="1" lang="en-US" sz="269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SDT 100 01</a:t>
            </a:r>
            <a:endParaRPr i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A5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64f1b99a_0_17"/>
          <p:cNvSpPr txBox="1"/>
          <p:nvPr/>
        </p:nvSpPr>
        <p:spPr>
          <a:xfrm>
            <a:off x="7681800" y="1727550"/>
            <a:ext cx="10000200" cy="8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9">
                <a:solidFill>
                  <a:schemeClr val="lt2"/>
                </a:solidFill>
              </a:rPr>
              <a:t>Limits of Our Analysis:</a:t>
            </a:r>
            <a:endParaRPr b="1" sz="3299">
              <a:solidFill>
                <a:schemeClr val="lt2"/>
              </a:solidFill>
            </a:endParaRPr>
          </a:p>
          <a:p>
            <a:pPr indent="-4380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●"/>
            </a:pPr>
            <a:r>
              <a:rPr lang="en-US" sz="3299">
                <a:solidFill>
                  <a:schemeClr val="lt2"/>
                </a:solidFill>
              </a:rPr>
              <a:t>Self reported survey data means some salaries or experience values may be off.</a:t>
            </a:r>
            <a:endParaRPr sz="3299">
              <a:solidFill>
                <a:schemeClr val="lt2"/>
              </a:solidFill>
            </a:endParaRPr>
          </a:p>
          <a:p>
            <a:pPr indent="-4380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●"/>
            </a:pPr>
            <a:r>
              <a:rPr lang="en-US" sz="3299">
                <a:solidFill>
                  <a:schemeClr val="lt2"/>
                </a:solidFill>
              </a:rPr>
              <a:t>This is a single survey of a one year time frame and may not represent </a:t>
            </a:r>
            <a:r>
              <a:rPr lang="en-US" sz="3299" u="sng">
                <a:solidFill>
                  <a:schemeClr val="lt2"/>
                </a:solidFill>
              </a:rPr>
              <a:t>every</a:t>
            </a:r>
            <a:r>
              <a:rPr lang="en-US" sz="3299">
                <a:solidFill>
                  <a:schemeClr val="lt2"/>
                </a:solidFill>
              </a:rPr>
              <a:t> developer or future years.</a:t>
            </a:r>
            <a:endParaRPr sz="3299">
              <a:solidFill>
                <a:schemeClr val="lt2"/>
              </a:solidFill>
            </a:endParaRPr>
          </a:p>
          <a:p>
            <a:pPr indent="-4380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●"/>
            </a:pPr>
            <a:r>
              <a:rPr lang="en-US" sz="3299">
                <a:solidFill>
                  <a:schemeClr val="lt2"/>
                </a:solidFill>
              </a:rPr>
              <a:t>Did not control for:</a:t>
            </a:r>
            <a:endParaRPr sz="3299">
              <a:solidFill>
                <a:schemeClr val="lt2"/>
              </a:solidFill>
            </a:endParaRPr>
          </a:p>
          <a:p>
            <a:pPr indent="-4380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○"/>
            </a:pPr>
            <a:r>
              <a:rPr lang="en-US" sz="3299">
                <a:solidFill>
                  <a:schemeClr val="lt2"/>
                </a:solidFill>
              </a:rPr>
              <a:t>Location (State/City Wage Differences)</a:t>
            </a:r>
            <a:endParaRPr sz="3299">
              <a:solidFill>
                <a:schemeClr val="lt2"/>
              </a:solidFill>
            </a:endParaRPr>
          </a:p>
          <a:p>
            <a:pPr indent="-4380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○"/>
            </a:pPr>
            <a:r>
              <a:rPr lang="en-US" sz="3299">
                <a:solidFill>
                  <a:schemeClr val="lt2"/>
                </a:solidFill>
              </a:rPr>
              <a:t>Company size</a:t>
            </a:r>
            <a:endParaRPr sz="3299">
              <a:solidFill>
                <a:schemeClr val="lt2"/>
              </a:solidFill>
            </a:endParaRPr>
          </a:p>
          <a:p>
            <a:pPr indent="-4380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○"/>
            </a:pPr>
            <a:r>
              <a:rPr lang="en-US" sz="3299">
                <a:solidFill>
                  <a:schemeClr val="lt2"/>
                </a:solidFill>
              </a:rPr>
              <a:t>Industry</a:t>
            </a:r>
            <a:endParaRPr sz="3299">
              <a:solidFill>
                <a:schemeClr val="lt2"/>
              </a:solidFill>
            </a:endParaRPr>
          </a:p>
          <a:p>
            <a:pPr indent="-43808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○"/>
            </a:pPr>
            <a:r>
              <a:rPr lang="en-US" sz="3299">
                <a:solidFill>
                  <a:schemeClr val="lt2"/>
                </a:solidFill>
              </a:rPr>
              <a:t>Job title</a:t>
            </a:r>
            <a:endParaRPr sz="3299">
              <a:solidFill>
                <a:schemeClr val="lt2"/>
              </a:solidFill>
            </a:endParaRPr>
          </a:p>
          <a:p>
            <a:pPr indent="-43808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99"/>
              <a:buChar char="●"/>
            </a:pPr>
            <a:r>
              <a:rPr lang="en-US" sz="3299">
                <a:solidFill>
                  <a:schemeClr val="lt2"/>
                </a:solidFill>
              </a:rPr>
              <a:t>Results show patterns in this dataset, not a guarantee for every firm.</a:t>
            </a:r>
            <a:endParaRPr sz="3299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chemeClr val="lt2"/>
              </a:solidFill>
            </a:endParaRPr>
          </a:p>
        </p:txBody>
      </p:sp>
      <p:sp>
        <p:nvSpPr>
          <p:cNvPr id="156" name="Google Shape;156;g3ae64f1b99a_0_17"/>
          <p:cNvSpPr txBox="1"/>
          <p:nvPr/>
        </p:nvSpPr>
        <p:spPr>
          <a:xfrm>
            <a:off x="666750" y="1743925"/>
            <a:ext cx="64407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D0D8E8"/>
                </a:solidFill>
                <a:latin typeface="Play"/>
                <a:ea typeface="Play"/>
                <a:cs typeface="Play"/>
                <a:sym typeface="Play"/>
              </a:rPr>
              <a:t>Limitations and Caution</a:t>
            </a:r>
            <a:endParaRPr/>
          </a:p>
        </p:txBody>
      </p:sp>
      <p:cxnSp>
        <p:nvCxnSpPr>
          <p:cNvPr id="157" name="Google Shape;157;g3ae64f1b99a_0_17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g3ae64f1b99a_0_17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rowser, error, alert, page, broken connection  icon (Provided by Getty Images)" id="159" name="Google Shape;159;g3ae64f1b99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737" y="6177025"/>
            <a:ext cx="3260723" cy="3260723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g3ae64f1b99a_0_17"/>
          <p:cNvSpPr txBox="1"/>
          <p:nvPr/>
        </p:nvSpPr>
        <p:spPr>
          <a:xfrm>
            <a:off x="3707849" y="8224672"/>
            <a:ext cx="10882200" cy="19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7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799">
                <a:solidFill>
                  <a:srgbClr val="D0D8E8"/>
                </a:solidFill>
              </a:rPr>
            </a:b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i="1" lang="en-US" sz="2699">
                <a:solidFill>
                  <a:srgbClr val="D0D8E8"/>
                </a:solidFill>
              </a:rPr>
              <a:t> Project - </a:t>
            </a:r>
            <a:r>
              <a:rPr b="0" i="1" lang="en-US" sz="2699" u="none" cap="none" strike="noStrike">
                <a:solidFill>
                  <a:srgbClr val="D0D8E8"/>
                </a:solidFill>
                <a:latin typeface="Arial"/>
                <a:ea typeface="Arial"/>
                <a:cs typeface="Arial"/>
                <a:sym typeface="Arial"/>
              </a:rPr>
              <a:t>SDT 100 01</a:t>
            </a:r>
            <a:endParaRPr i="1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A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-429800" y="1314600"/>
            <a:ext cx="19147500" cy="232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6437100" y="1736550"/>
            <a:ext cx="5413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Q &amp; A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67" name="Google Shape;167;p8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8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Query Icon (Provided by Getty Images)" id="169" name="Google Shape;1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750" y="3523850"/>
            <a:ext cx="6096399" cy="609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EA5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e64f1b99a_0_60"/>
          <p:cNvSpPr/>
          <p:nvPr/>
        </p:nvSpPr>
        <p:spPr>
          <a:xfrm>
            <a:off x="-572075" y="3509375"/>
            <a:ext cx="19147500" cy="232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ae64f1b99a_0_60"/>
          <p:cNvSpPr txBox="1"/>
          <p:nvPr/>
        </p:nvSpPr>
        <p:spPr>
          <a:xfrm>
            <a:off x="5141350" y="3931325"/>
            <a:ext cx="7720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Thank You!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76" name="Google Shape;176;g3ae64f1b99a_0_60"/>
          <p:cNvCxnSpPr/>
          <p:nvPr/>
        </p:nvCxnSpPr>
        <p:spPr>
          <a:xfrm>
            <a:off x="0" y="6667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g3ae64f1b99a_0_60"/>
          <p:cNvCxnSpPr/>
          <p:nvPr/>
        </p:nvCxnSpPr>
        <p:spPr>
          <a:xfrm>
            <a:off x="0" y="9620250"/>
            <a:ext cx="18288000" cy="0"/>
          </a:xfrm>
          <a:prstGeom prst="straightConnector1">
            <a:avLst/>
          </a:prstGeom>
          <a:noFill/>
          <a:ln cap="flat" cmpd="sng" w="1905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